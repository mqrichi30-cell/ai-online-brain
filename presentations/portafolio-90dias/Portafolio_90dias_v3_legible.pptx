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14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general: 12 automatizaciones, 4 completadas, 7 en progreso, 1 en discovery. El detalle de cada uno de los 5 principales va en las diapositivas siguientes.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I ya entregada. La parte II sigue sin fecha: pedir definicion en la revision.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previsto Jul 2026. Sin bloqueos abiertos.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Beneficio principal: ~2 horas por semana liberadas.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Unico proyecto todavia en Discovery y con ayuda pendiente de DOOM / Azure.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necesita apoyo de COTC para copiar el flujo KNIME.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7 automatizaciones restantes del portafolio: 3 en progreso fuera del Top 5 y 4 ya completadas.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10896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plan · </a:t>
            </a:r>
            <a:pPr indent="0" marL="0">
              <a:buNone/>
            </a:pPr>
            <a:r>
              <a:rPr lang="en-US" sz="4000" b="1" dirty="0">
                <a:solidFill>
                  <a:srgbClr val="39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9951415" y="384048"/>
            <a:ext cx="1737360" cy="548640"/>
          </a:xfrm>
          <a:prstGeom prst="roundRect">
            <a:avLst>
              <a:gd name="adj" fmla="val 23333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51415" y="3840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2920" y="104241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IWS </a:t>
            </a:r>
            <a:pPr indent="0" marL="0">
              <a:buNone/>
            </a:pPr>
            <a:r>
              <a:rPr lang="en-US" sz="1800" i="1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implementation to drive improvement and drive value.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02920" y="1481328"/>
            <a:ext cx="2590724" cy="1234440"/>
          </a:xfrm>
          <a:prstGeom prst="roundRect">
            <a:avLst>
              <a:gd name="adj" fmla="val 6667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536192"/>
            <a:ext cx="25907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02920" y="226771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6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367964" y="1481328"/>
            <a:ext cx="2590724" cy="1234440"/>
          </a:xfrm>
          <a:prstGeom prst="roundRect">
            <a:avLst>
              <a:gd name="adj" fmla="val 6667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67964" y="1536192"/>
            <a:ext cx="25907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3367964" y="226771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6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33008" y="1481328"/>
            <a:ext cx="2590724" cy="1234440"/>
          </a:xfrm>
          <a:prstGeom prst="roundRect">
            <a:avLst>
              <a:gd name="adj" fmla="val 6667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33008" y="1536192"/>
            <a:ext cx="25907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9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6233008" y="226771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6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9098051" y="1481328"/>
            <a:ext cx="2590724" cy="1234440"/>
          </a:xfrm>
          <a:prstGeom prst="roundRect">
            <a:avLst>
              <a:gd name="adj" fmla="val 6667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98051" y="1536192"/>
            <a:ext cx="25907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CE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18" name="Text 15"/>
          <p:cNvSpPr/>
          <p:nvPr/>
        </p:nvSpPr>
        <p:spPr>
          <a:xfrm>
            <a:off x="9098051" y="226771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6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02920" y="28895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20" kern="0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 PROGRESS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202375" y="288950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on the following slides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02920" y="3273552"/>
            <a:ext cx="11185855" cy="512064"/>
          </a:xfrm>
          <a:prstGeom prst="roundRect">
            <a:avLst>
              <a:gd name="adj" fmla="val 16071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9224" y="3364992"/>
            <a:ext cx="329184" cy="329184"/>
          </a:xfrm>
          <a:prstGeom prst="ellipse">
            <a:avLst/>
          </a:prstGeom>
          <a:solidFill>
            <a:srgbClr val="39C6F5"/>
          </a:solidFill>
          <a:ln w="12700">
            <a:solidFill>
              <a:srgbClr val="39C6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9224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52728" y="3273552"/>
            <a:ext cx="6355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Category Emails &amp; Display Auto-Release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7726680" y="3355848"/>
            <a:ext cx="1572768" cy="347472"/>
          </a:xfrm>
          <a:prstGeom prst="roundRect">
            <a:avLst>
              <a:gd name="adj" fmla="val 36842"/>
            </a:avLst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26680" y="33558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314432" y="327355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AMJ 2026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02920" y="3877056"/>
            <a:ext cx="11185855" cy="512064"/>
          </a:xfrm>
          <a:prstGeom prst="roundRect">
            <a:avLst>
              <a:gd name="adj" fmla="val 16071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9224" y="3968496"/>
            <a:ext cx="329184" cy="329184"/>
          </a:xfrm>
          <a:prstGeom prst="ellipse">
            <a:avLst/>
          </a:prstGeom>
          <a:solidFill>
            <a:srgbClr val="39C6F5"/>
          </a:solidFill>
          <a:ln w="12700">
            <a:solidFill>
              <a:srgbClr val="39C6F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9224" y="3968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252728" y="3877056"/>
            <a:ext cx="6355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Material # Inclusion</a:t>
            </a:r>
            <a:endParaRPr lang="en-US" sz="1900" dirty="0"/>
          </a:p>
        </p:txBody>
      </p:sp>
      <p:sp>
        <p:nvSpPr>
          <p:cNvPr id="32" name="Shape 29"/>
          <p:cNvSpPr/>
          <p:nvPr/>
        </p:nvSpPr>
        <p:spPr>
          <a:xfrm>
            <a:off x="7726680" y="3959352"/>
            <a:ext cx="1572768" cy="347472"/>
          </a:xfrm>
          <a:prstGeom prst="roundRect">
            <a:avLst>
              <a:gd name="adj" fmla="val 36842"/>
            </a:avLst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26680" y="395935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0314432" y="387705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02920" y="4480560"/>
            <a:ext cx="11185855" cy="512064"/>
          </a:xfrm>
          <a:prstGeom prst="roundRect">
            <a:avLst>
              <a:gd name="adj" fmla="val 16071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9224" y="4572000"/>
            <a:ext cx="329184" cy="329184"/>
          </a:xfrm>
          <a:prstGeom prst="ellipse">
            <a:avLst/>
          </a:prstGeom>
          <a:solidFill>
            <a:srgbClr val="39C6F5"/>
          </a:solidFill>
          <a:ln w="12700">
            <a:solidFill>
              <a:srgbClr val="39C6F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9224" y="4572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1252728" y="4480560"/>
            <a:ext cx="6355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Inbox</a:t>
            </a:r>
            <a:endParaRPr lang="en-US" sz="1900" dirty="0"/>
          </a:p>
        </p:txBody>
      </p:sp>
      <p:sp>
        <p:nvSpPr>
          <p:cNvPr id="39" name="Shape 36"/>
          <p:cNvSpPr/>
          <p:nvPr/>
        </p:nvSpPr>
        <p:spPr>
          <a:xfrm>
            <a:off x="7726680" y="4562856"/>
            <a:ext cx="1572768" cy="347472"/>
          </a:xfrm>
          <a:prstGeom prst="roundRect">
            <a:avLst>
              <a:gd name="adj" fmla="val 36842"/>
            </a:avLst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726680" y="456285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10314432" y="448056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502920" y="5084064"/>
            <a:ext cx="11185855" cy="512064"/>
          </a:xfrm>
          <a:prstGeom prst="roundRect">
            <a:avLst>
              <a:gd name="adj" fmla="val 16071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9224" y="5175504"/>
            <a:ext cx="329184" cy="329184"/>
          </a:xfrm>
          <a:prstGeom prst="ellipse">
            <a:avLst/>
          </a:prstGeom>
          <a:solidFill>
            <a:srgbClr val="39C6F5"/>
          </a:solidFill>
          <a:ln w="12700">
            <a:solidFill>
              <a:srgbClr val="39C6F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9224" y="5175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1252728" y="5084064"/>
            <a:ext cx="6355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Orders Validation</a:t>
            </a:r>
            <a:endParaRPr lang="en-US" sz="1900" dirty="0"/>
          </a:p>
        </p:txBody>
      </p:sp>
      <p:sp>
        <p:nvSpPr>
          <p:cNvPr id="46" name="Shape 43"/>
          <p:cNvSpPr/>
          <p:nvPr/>
        </p:nvSpPr>
        <p:spPr>
          <a:xfrm>
            <a:off x="7726680" y="5166360"/>
            <a:ext cx="1572768" cy="347472"/>
          </a:xfrm>
          <a:prstGeom prst="roundRect">
            <a:avLst>
              <a:gd name="adj" fmla="val 36842"/>
            </a:avLst>
          </a:prstGeom>
          <a:solidFill>
            <a:srgbClr val="39C6F5"/>
          </a:solidFill>
          <a:ln w="12700">
            <a:solidFill>
              <a:srgbClr val="39C6F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726680" y="516636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9390888" y="5084064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Help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10314432" y="508406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502920" y="5687568"/>
            <a:ext cx="11185855" cy="512064"/>
          </a:xfrm>
          <a:prstGeom prst="roundRect">
            <a:avLst>
              <a:gd name="adj" fmla="val 16071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49224" y="5779008"/>
            <a:ext cx="329184" cy="329184"/>
          </a:xfrm>
          <a:prstGeom prst="ellipse">
            <a:avLst/>
          </a:prstGeom>
          <a:solidFill>
            <a:srgbClr val="39C6F5"/>
          </a:solidFill>
          <a:ln w="12700">
            <a:solidFill>
              <a:srgbClr val="39C6F5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9224" y="5779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1252728" y="5687568"/>
            <a:ext cx="6355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DSD KNIME Lead-Time Exception (LTE)</a:t>
            </a:r>
            <a:endParaRPr lang="en-US" sz="1900" dirty="0"/>
          </a:p>
        </p:txBody>
      </p:sp>
      <p:sp>
        <p:nvSpPr>
          <p:cNvPr id="54" name="Shape 51"/>
          <p:cNvSpPr/>
          <p:nvPr/>
        </p:nvSpPr>
        <p:spPr>
          <a:xfrm>
            <a:off x="7726680" y="5769864"/>
            <a:ext cx="1572768" cy="347472"/>
          </a:xfrm>
          <a:prstGeom prst="roundRect">
            <a:avLst>
              <a:gd name="adj" fmla="val 36842"/>
            </a:avLst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726680" y="576986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9390888" y="5687568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Help</a:t>
            </a:r>
            <a:endParaRPr lang="en-US" sz="1400" dirty="0"/>
          </a:p>
        </p:txBody>
      </p:sp>
      <p:sp>
        <p:nvSpPr>
          <p:cNvPr id="57" name="Text 54"/>
          <p:cNvSpPr/>
          <p:nvPr/>
        </p:nvSpPr>
        <p:spPr>
          <a:xfrm>
            <a:off x="10314432" y="568756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1500" dirty="0"/>
          </a:p>
        </p:txBody>
      </p:sp>
      <p:sp>
        <p:nvSpPr>
          <p:cNvPr id="58" name="Text 55"/>
          <p:cNvSpPr/>
          <p:nvPr/>
        </p:nvSpPr>
        <p:spPr>
          <a:xfrm>
            <a:off x="502920" y="645566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 · C-OTC Order Management — San Jose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6202375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portfolio table in the appendix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 PROGRESS  ·  1 OF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585216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Category Emails &amp; Display Auto-Release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9402775" y="658368"/>
            <a:ext cx="2286000" cy="566928"/>
          </a:xfrm>
          <a:prstGeom prst="roundRect">
            <a:avLst>
              <a:gd name="adj" fmla="val 22581"/>
            </a:avLst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02775" y="6583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6903720" cy="2377440"/>
          </a:xfrm>
          <a:prstGeom prst="roundRect">
            <a:avLst>
              <a:gd name="adj" fmla="val 3462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1847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" y="2157984"/>
            <a:ext cx="639165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Item-category tag auto-routes emails</a:t>
            </a:r>
            <a:endParaRPr lang="en-US" sz="23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Auto-releases displays when P&amp;G &lt; customer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502920" y="4389120"/>
            <a:ext cx="6903720" cy="1828800"/>
          </a:xfrm>
          <a:prstGeom prst="roundRect">
            <a:avLst>
              <a:gd name="adj" fmla="val 4500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98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OTSR IMPACTS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8952" y="5029200"/>
            <a:ext cx="3108960" cy="841248"/>
          </a:xfrm>
          <a:prstGeom prst="roundRect">
            <a:avLst>
              <a:gd name="adj" fmla="val 10870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3544" y="5029200"/>
            <a:ext cx="2779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Readiness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050792" y="5029200"/>
            <a:ext cx="3108960" cy="841248"/>
          </a:xfrm>
          <a:prstGeom prst="roundRect">
            <a:avLst>
              <a:gd name="adj" fmla="val 10870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15384" y="5029200"/>
            <a:ext cx="2779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 Flow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7680960" y="1737360"/>
            <a:ext cx="4007815" cy="1600200"/>
          </a:xfrm>
          <a:prstGeom prst="roundRect">
            <a:avLst>
              <a:gd name="adj" fmla="val 5143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36992" y="1847088"/>
            <a:ext cx="3495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936992" y="2103120"/>
            <a:ext cx="349575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 (Mariela)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Aguilar · B. Miller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680960" y="3611880"/>
            <a:ext cx="4007815" cy="1234440"/>
          </a:xfrm>
          <a:prstGeom prst="roundRect">
            <a:avLst>
              <a:gd name="adj" fmla="val 6667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36992" y="3703320"/>
            <a:ext cx="3495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936992" y="4005072"/>
            <a:ext cx="349575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(Item Cat.)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680960" y="5120640"/>
            <a:ext cx="4007815" cy="1097280"/>
          </a:xfrm>
          <a:prstGeom prst="roundRect">
            <a:avLst>
              <a:gd name="adj" fmla="val 7500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36992" y="5193792"/>
            <a:ext cx="3495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936992" y="5449824"/>
            <a:ext cx="349575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✔  ·  AMJ 2026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 ·  TBD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02920" y="645566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 · C-OTC Order Management — San Jose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02375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 PROGRESS  ·  2 OF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585216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Material # Inclusion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9402775" y="658368"/>
            <a:ext cx="2286000" cy="566928"/>
          </a:xfrm>
          <a:prstGeom prst="roundRect">
            <a:avLst>
              <a:gd name="adj" fmla="val 22581"/>
            </a:avLst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02775" y="6583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6903720" cy="2377440"/>
          </a:xfrm>
          <a:prstGeom prst="roundRect">
            <a:avLst>
              <a:gd name="adj" fmla="val 3462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1847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" y="2157984"/>
            <a:ext cx="639165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updates Customer Material # on existing SAP lines</a:t>
            </a:r>
            <a:endParaRPr lang="en-US" sz="23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returns risk &amp; SAP rework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502920" y="4389120"/>
            <a:ext cx="6903720" cy="1828800"/>
          </a:xfrm>
          <a:prstGeom prst="roundRect">
            <a:avLst>
              <a:gd name="adj" fmla="val 4500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98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OTSR IMPACTS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8952" y="5029200"/>
            <a:ext cx="3108960" cy="841248"/>
          </a:xfrm>
          <a:prstGeom prst="roundRect">
            <a:avLst>
              <a:gd name="adj" fmla="val 10870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3544" y="5029200"/>
            <a:ext cx="2779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 Flow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050792" y="5029200"/>
            <a:ext cx="3108960" cy="841248"/>
          </a:xfrm>
          <a:prstGeom prst="roundRect">
            <a:avLst>
              <a:gd name="adj" fmla="val 10870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15384" y="5029200"/>
            <a:ext cx="2779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on Time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7680960" y="1737360"/>
            <a:ext cx="4007815" cy="1600200"/>
          </a:xfrm>
          <a:prstGeom prst="roundRect">
            <a:avLst>
              <a:gd name="adj" fmla="val 5143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36992" y="1847088"/>
            <a:ext cx="3495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936992" y="2103120"/>
            <a:ext cx="349575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Arroyo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680960" y="3611880"/>
            <a:ext cx="4007815" cy="1234440"/>
          </a:xfrm>
          <a:prstGeom prst="roundRect">
            <a:avLst>
              <a:gd name="adj" fmla="val 6667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36992" y="3703320"/>
            <a:ext cx="3495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936992" y="4005072"/>
            <a:ext cx="349575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/ Blue Prism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680960" y="5120640"/>
            <a:ext cx="4007815" cy="1097280"/>
          </a:xfrm>
          <a:prstGeom prst="roundRect">
            <a:avLst>
              <a:gd name="adj" fmla="val 7500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36992" y="5193792"/>
            <a:ext cx="3495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936992" y="5449824"/>
            <a:ext cx="34957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502920" y="645566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 · C-OTC Order Management — San Jose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02375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 PROGRESS  ·  3 OF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585216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Inbox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9402775" y="658368"/>
            <a:ext cx="2286000" cy="566928"/>
          </a:xfrm>
          <a:prstGeom prst="roundRect">
            <a:avLst>
              <a:gd name="adj" fmla="val 22581"/>
            </a:avLst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02775" y="6583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6903720" cy="2377440"/>
          </a:xfrm>
          <a:prstGeom prst="roundRect">
            <a:avLst>
              <a:gd name="adj" fmla="val 3462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1847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" y="2157984"/>
            <a:ext cx="639165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&amp; routes automated emails (ZE, ZQ, YU)</a:t>
            </a:r>
            <a:endParaRPr lang="en-US" sz="23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hrs/week saved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502920" y="4389120"/>
            <a:ext cx="6903720" cy="1828800"/>
          </a:xfrm>
          <a:prstGeom prst="roundRect">
            <a:avLst>
              <a:gd name="adj" fmla="val 4500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98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OTSR IMPACTS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8952" y="5029200"/>
            <a:ext cx="3108960" cy="841248"/>
          </a:xfrm>
          <a:prstGeom prst="roundRect">
            <a:avLst>
              <a:gd name="adj" fmla="val 10870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3544" y="5029200"/>
            <a:ext cx="2779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Readiness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050792" y="5029200"/>
            <a:ext cx="3108960" cy="841248"/>
          </a:xfrm>
          <a:prstGeom prst="roundRect">
            <a:avLst>
              <a:gd name="adj" fmla="val 10870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15384" y="5029200"/>
            <a:ext cx="2779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7680960" y="1737360"/>
            <a:ext cx="4007815" cy="1600200"/>
          </a:xfrm>
          <a:prstGeom prst="roundRect">
            <a:avLst>
              <a:gd name="adj" fmla="val 5143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36992" y="1847088"/>
            <a:ext cx="3495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936992" y="2103120"/>
            <a:ext cx="349575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Campos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Espinoza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680960" y="3611880"/>
            <a:ext cx="4007815" cy="1234440"/>
          </a:xfrm>
          <a:prstGeom prst="roundRect">
            <a:avLst>
              <a:gd name="adj" fmla="val 6667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36992" y="3703320"/>
            <a:ext cx="3495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936992" y="4005072"/>
            <a:ext cx="349575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OSSgenAI / IT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680960" y="5120640"/>
            <a:ext cx="4007815" cy="1097280"/>
          </a:xfrm>
          <a:prstGeom prst="roundRect">
            <a:avLst>
              <a:gd name="adj" fmla="val 7500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36992" y="5193792"/>
            <a:ext cx="3495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936992" y="5449824"/>
            <a:ext cx="34957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502920" y="645566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 · C-OTC Order Management — San Jose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02375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 PROGRESS  ·  4 OF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585216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Orders Validation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9402775" y="658368"/>
            <a:ext cx="2286000" cy="566928"/>
          </a:xfrm>
          <a:prstGeom prst="roundRect">
            <a:avLst>
              <a:gd name="adj" fmla="val 22581"/>
            </a:avLst>
          </a:prstGeom>
          <a:solidFill>
            <a:srgbClr val="39C6F5"/>
          </a:solidFill>
          <a:ln w="12700">
            <a:solidFill>
              <a:srgbClr val="39C6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02775" y="6583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6903720" cy="2377440"/>
          </a:xfrm>
          <a:prstGeom prst="roundRect">
            <a:avLst>
              <a:gd name="adj" fmla="val 3462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1847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" y="2157984"/>
            <a:ext cx="639165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ActOM validate the EDI transmission</a:t>
            </a:r>
            <a:endParaRPr lang="en-US" sz="23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PDF review · avoids error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502920" y="4389120"/>
            <a:ext cx="6903720" cy="1828800"/>
          </a:xfrm>
          <a:prstGeom prst="roundRect">
            <a:avLst>
              <a:gd name="adj" fmla="val 4500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98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OTSR IMPACTS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8952" y="5029200"/>
            <a:ext cx="3108960" cy="841248"/>
          </a:xfrm>
          <a:prstGeom prst="roundRect">
            <a:avLst>
              <a:gd name="adj" fmla="val 10870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3544" y="5029200"/>
            <a:ext cx="2779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Readiness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050792" y="5029200"/>
            <a:ext cx="3108960" cy="841248"/>
          </a:xfrm>
          <a:prstGeom prst="roundRect">
            <a:avLst>
              <a:gd name="adj" fmla="val 10870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15384" y="5029200"/>
            <a:ext cx="2779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Quality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7680960" y="1737360"/>
            <a:ext cx="4007815" cy="1600200"/>
          </a:xfrm>
          <a:prstGeom prst="roundRect">
            <a:avLst>
              <a:gd name="adj" fmla="val 5143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36992" y="1847088"/>
            <a:ext cx="3495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936992" y="2103120"/>
            <a:ext cx="349575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Cristhofer Marin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680960" y="3611880"/>
            <a:ext cx="4007815" cy="1234440"/>
          </a:xfrm>
          <a:prstGeom prst="roundRect">
            <a:avLst>
              <a:gd name="adj" fmla="val 6667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36992" y="3703320"/>
            <a:ext cx="3495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936992" y="4005072"/>
            <a:ext cx="34957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DOOM / Azure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936992" y="4389120"/>
            <a:ext cx="3495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Help needed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680960" y="5120640"/>
            <a:ext cx="4007815" cy="1097280"/>
          </a:xfrm>
          <a:prstGeom prst="roundRect">
            <a:avLst>
              <a:gd name="adj" fmla="val 7500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36992" y="5193792"/>
            <a:ext cx="3495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936992" y="5449824"/>
            <a:ext cx="34957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502920" y="645566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 · C-OTC Order Management — San Jose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02375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4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 PROGRESS  ·  5 OF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585216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DSD KNIME Lead-Time Exception (LTE)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9402775" y="658368"/>
            <a:ext cx="2286000" cy="566928"/>
          </a:xfrm>
          <a:prstGeom prst="roundRect">
            <a:avLst>
              <a:gd name="adj" fmla="val 22581"/>
            </a:avLst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02775" y="6583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0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6903720" cy="2377440"/>
          </a:xfrm>
          <a:prstGeom prst="roundRect">
            <a:avLst>
              <a:gd name="adj" fmla="val 3462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1847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" y="2157984"/>
            <a:ext cx="639165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KNIME flags LTE orders &amp; auto-responds to RPA</a:t>
            </a:r>
            <a:endParaRPr lang="en-US" sz="23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3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 · no wrong-RDD pushes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502920" y="4389120"/>
            <a:ext cx="6903720" cy="1828800"/>
          </a:xfrm>
          <a:prstGeom prst="roundRect">
            <a:avLst>
              <a:gd name="adj" fmla="val 4500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98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OTSR IMPACTS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8952" y="5029200"/>
            <a:ext cx="3108960" cy="841248"/>
          </a:xfrm>
          <a:prstGeom prst="roundRect">
            <a:avLst>
              <a:gd name="adj" fmla="val 10870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3544" y="5029200"/>
            <a:ext cx="2779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Readiness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050792" y="5029200"/>
            <a:ext cx="3108960" cy="841248"/>
          </a:xfrm>
          <a:prstGeom prst="roundRect">
            <a:avLst>
              <a:gd name="adj" fmla="val 10870"/>
            </a:avLst>
          </a:prstGeom>
          <a:solidFill>
            <a:srgbClr val="2A5896"/>
          </a:solidFill>
          <a:ln w="12700">
            <a:solidFill>
              <a:srgbClr val="3E72A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15384" y="5029200"/>
            <a:ext cx="2779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 Flow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7680960" y="1737360"/>
            <a:ext cx="4007815" cy="1600200"/>
          </a:xfrm>
          <a:prstGeom prst="roundRect">
            <a:avLst>
              <a:gd name="adj" fmla="val 5143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36992" y="1847088"/>
            <a:ext cx="3495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936992" y="2103120"/>
            <a:ext cx="349575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Cristhofer Marin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680960" y="3611880"/>
            <a:ext cx="4007815" cy="1234440"/>
          </a:xfrm>
          <a:prstGeom prst="roundRect">
            <a:avLst>
              <a:gd name="adj" fmla="val 6667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36992" y="3703320"/>
            <a:ext cx="3495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936992" y="4005072"/>
            <a:ext cx="34957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COTC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936992" y="4389120"/>
            <a:ext cx="3495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Help needed to copy KNIME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680960" y="5120640"/>
            <a:ext cx="4007815" cy="1097280"/>
          </a:xfrm>
          <a:prstGeom prst="roundRect">
            <a:avLst>
              <a:gd name="adj" fmla="val 7500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36992" y="5193792"/>
            <a:ext cx="34957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936992" y="5449824"/>
            <a:ext cx="34957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502920" y="645566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 · C-OTC Order Management — San Jose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202375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10896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7 automations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659575" y="3840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Top 5 · same portfolio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02920" y="1490472"/>
            <a:ext cx="182880" cy="182880"/>
          </a:xfrm>
          <a:prstGeom prst="ellipse">
            <a:avLst/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" y="1389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20" kern="0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PROGRESS (3)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3545738" cy="1554480"/>
          </a:xfrm>
          <a:prstGeom prst="roundRect">
            <a:avLst>
              <a:gd name="adj" fmla="val 5294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130552"/>
            <a:ext cx="155448" cy="155448"/>
          </a:xfrm>
          <a:prstGeom prst="ellipse">
            <a:avLst/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377440"/>
            <a:ext cx="29970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AWG Order Consolidation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22978" y="1874520"/>
            <a:ext cx="3545738" cy="1554480"/>
          </a:xfrm>
          <a:prstGeom prst="roundRect">
            <a:avLst>
              <a:gd name="adj" fmla="val 5294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7298" y="2130552"/>
            <a:ext cx="155448" cy="155448"/>
          </a:xfrm>
          <a:prstGeom prst="ellipse">
            <a:avLst/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7298" y="2377440"/>
            <a:ext cx="29970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Cancellation Request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8143037" y="1874520"/>
            <a:ext cx="3545738" cy="1554480"/>
          </a:xfrm>
          <a:prstGeom prst="roundRect">
            <a:avLst>
              <a:gd name="adj" fmla="val 5294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7357" y="2130552"/>
            <a:ext cx="155448" cy="155448"/>
          </a:xfrm>
          <a:prstGeom prst="ellipse">
            <a:avLst/>
          </a:prstGeom>
          <a:solidFill>
            <a:srgbClr val="F3B65F"/>
          </a:solidFill>
          <a:ln w="12700">
            <a:solidFill>
              <a:srgbClr val="F3B6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7357" y="2377440"/>
            <a:ext cx="29970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 Block Autoclean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02920" y="3959352"/>
            <a:ext cx="182880" cy="182880"/>
          </a:xfrm>
          <a:prstGeom prst="ellipse">
            <a:avLst/>
          </a:prstGeom>
          <a:solidFill>
            <a:srgbClr val="7CE7AE"/>
          </a:solidFill>
          <a:ln w="12700">
            <a:solidFill>
              <a:srgbClr val="7CE7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528" y="3858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20" kern="0" dirty="0">
                <a:solidFill>
                  <a:srgbClr val="7CE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(4)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502920" y="4343400"/>
            <a:ext cx="2590724" cy="1554480"/>
          </a:xfrm>
          <a:prstGeom prst="roundRect">
            <a:avLst>
              <a:gd name="adj" fmla="val 5294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0664" y="4599432"/>
            <a:ext cx="155448" cy="155448"/>
          </a:xfrm>
          <a:prstGeom prst="ellipse">
            <a:avLst/>
          </a:prstGeom>
          <a:solidFill>
            <a:srgbClr val="7CE7AE"/>
          </a:solidFill>
          <a:ln w="12700">
            <a:solidFill>
              <a:srgbClr val="7CE7A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0664" y="4846320"/>
            <a:ext cx="21152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11 Autoclean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3367964" y="4343400"/>
            <a:ext cx="2590724" cy="1554480"/>
          </a:xfrm>
          <a:prstGeom prst="roundRect">
            <a:avLst>
              <a:gd name="adj" fmla="val 5294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05708" y="4599432"/>
            <a:ext cx="155448" cy="155448"/>
          </a:xfrm>
          <a:prstGeom prst="ellipse">
            <a:avLst/>
          </a:prstGeom>
          <a:solidFill>
            <a:srgbClr val="7CE7AE"/>
          </a:solidFill>
          <a:ln w="12700">
            <a:solidFill>
              <a:srgbClr val="7CE7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05708" y="4846320"/>
            <a:ext cx="21152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Autopush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6233008" y="4343400"/>
            <a:ext cx="2590724" cy="1554480"/>
          </a:xfrm>
          <a:prstGeom prst="roundRect">
            <a:avLst>
              <a:gd name="adj" fmla="val 5294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70752" y="4599432"/>
            <a:ext cx="155448" cy="155448"/>
          </a:xfrm>
          <a:prstGeom prst="ellipse">
            <a:avLst/>
          </a:prstGeom>
          <a:solidFill>
            <a:srgbClr val="7CE7AE"/>
          </a:solidFill>
          <a:ln w="12700">
            <a:solidFill>
              <a:srgbClr val="7CE7A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70752" y="4846320"/>
            <a:ext cx="21152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VMI Appointment Automation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9098051" y="4343400"/>
            <a:ext cx="2590724" cy="1554480"/>
          </a:xfrm>
          <a:prstGeom prst="roundRect">
            <a:avLst>
              <a:gd name="adj" fmla="val 5294"/>
            </a:avLst>
          </a:prstGeom>
          <a:solidFill>
            <a:srgbClr val="1B3157"/>
          </a:solidFill>
          <a:ln w="12700">
            <a:solidFill>
              <a:srgbClr val="34507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35795" y="4599432"/>
            <a:ext cx="155448" cy="155448"/>
          </a:xfrm>
          <a:prstGeom prst="ellipse">
            <a:avLst/>
          </a:prstGeom>
          <a:solidFill>
            <a:srgbClr val="7CE7AE"/>
          </a:solidFill>
          <a:ln w="12700">
            <a:solidFill>
              <a:srgbClr val="7CE7A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35795" y="4846320"/>
            <a:ext cx="21152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AWG Ship-With Automation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502920" y="645566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 · C-OTC Order Management — San Jose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02375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portfolio table in the appendix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1945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plan · </a:t>
            </a:r>
            <a:pPr algn="l" indent="0" marL="0">
              <a:buNone/>
            </a:pPr>
            <a:r>
              <a:rPr lang="en-US" sz="2800" b="1" dirty="0">
                <a:solidFill>
                  <a:srgbClr val="39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360152" y="27432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1C4C86"/>
          </a:solidFill>
          <a:ln w="12700">
            <a:solidFill>
              <a:srgbClr val="3E72AE"/>
            </a:solidFill>
            <a:prstDash val="solid"/>
          </a:ln>
          <a:effectLst>
            <a:outerShdw sx="100000" sy="100000" kx="0" ky="0" algn="bl" rotWithShape="0" blurRad="88900" dist="25400" dir="5400000">
              <a:srgbClr val="020814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360152" y="2743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9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IWS</a:t>
            </a:r>
            <a:pPr algn="l" indent="0" marL="0">
              <a:buNone/>
            </a:pPr>
            <a:r>
              <a:rPr lang="en-US" sz="1100" i="1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methodology implementation to drive improvement and drive value.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95360" y="74980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 PROGRESS </a:t>
            </a:r>
            <a:pPr algn="r" indent="0" marL="0">
              <a:buNone/>
            </a:pPr>
            <a:r>
              <a:rPr lang="en-US" sz="10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of 12 automations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1457432" cy="402336"/>
          </a:xfrm>
          <a:prstGeom prst="roundRect">
            <a:avLst>
              <a:gd name="adj" fmla="val 22727"/>
            </a:avLst>
          </a:prstGeom>
          <a:solidFill>
            <a:srgbClr val="1C3E72"/>
          </a:solidFill>
          <a:ln w="9525">
            <a:solidFill>
              <a:srgbClr val="34507C"/>
            </a:solidFill>
            <a:prstDash val="solid"/>
          </a:ln>
          <a:effectLst>
            <a:outerShdw sx="100000" sy="100000" kx="0" ky="0" algn="bl" rotWithShape="0" blurRad="88900" dist="25400" dir="5400000">
              <a:srgbClr val="020814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" y="11887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04288" y="11887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1887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48272" y="11887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OTSR Impacts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58784" y="11887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0" y="118872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92256" y="118872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691640"/>
            <a:ext cx="11457432" cy="658368"/>
          </a:xfrm>
          <a:prstGeom prst="roundRect">
            <a:avLst>
              <a:gd name="adj" fmla="val 12500"/>
            </a:avLst>
          </a:prstGeom>
          <a:solidFill>
            <a:srgbClr val="16294A"/>
          </a:solidFill>
          <a:ln w="9525">
            <a:solidFill>
              <a:srgbClr val="34507C"/>
            </a:solidFill>
            <a:prstDash val="solid"/>
          </a:ln>
          <a:effectLst>
            <a:outerShdw sx="100000" sy="100000" kx="0" ky="0" algn="bl" rotWithShape="0" blurRad="88900" dist="25400" dir="5400000">
              <a:srgbClr val="020814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0624" y="1755648"/>
            <a:ext cx="1783080" cy="530352"/>
          </a:xfrm>
          <a:prstGeom prst="roundRect">
            <a:avLst>
              <a:gd name="adj" fmla="val 12069"/>
            </a:avLst>
          </a:prstGeom>
          <a:solidFill>
            <a:srgbClr val="2A5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691640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Category Emails &amp; Display Auto-Release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04288" y="16916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 (Mariela)</a:t>
            </a:r>
            <a:endParaRPr lang="en-US" sz="7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Aguilar · B. Miller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566160" y="16916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Item-category tag auto-routes emails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Auto-releases displays when P&amp;G &lt; customer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48272" y="169164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Readiness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 Flow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558784" y="16916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(Item Cat.)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241280" y="169164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pPr algn="ctr" indent="0" marL="0">
              <a:buNone/>
            </a:pPr>
            <a:endParaRPr lang="en-US" sz="8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7CE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✔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92256" y="1691640"/>
            <a:ext cx="603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AMJ 2026 (P1)</a:t>
            </a:r>
            <a:endParaRPr lang="en-US" sz="7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 (P2)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2436876"/>
            <a:ext cx="11457432" cy="658368"/>
          </a:xfrm>
          <a:prstGeom prst="roundRect">
            <a:avLst>
              <a:gd name="adj" fmla="val 12500"/>
            </a:avLst>
          </a:prstGeom>
          <a:solidFill>
            <a:srgbClr val="16294A"/>
          </a:solidFill>
          <a:ln w="9525">
            <a:solidFill>
              <a:srgbClr val="34507C"/>
            </a:solidFill>
            <a:prstDash val="solid"/>
          </a:ln>
          <a:effectLst>
            <a:outerShdw sx="100000" sy="100000" kx="0" ky="0" algn="bl" rotWithShape="0" blurRad="88900" dist="25400" dir="5400000">
              <a:srgbClr val="020814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0624" y="2500884"/>
            <a:ext cx="1783080" cy="530352"/>
          </a:xfrm>
          <a:prstGeom prst="roundRect">
            <a:avLst>
              <a:gd name="adj" fmla="val 12069"/>
            </a:avLst>
          </a:prstGeom>
          <a:solidFill>
            <a:srgbClr val="2A5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436876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Material # Inclusion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304288" y="243687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Arroyo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566160" y="243687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RPA updates Customer Material # on existing SAP lines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Reduces returns risk &amp; SAP rework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48272" y="2436876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 Flow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on Time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558784" y="243687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/ Blue Prism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241280" y="2436876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192256" y="2436876"/>
            <a:ext cx="603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" y="3182112"/>
            <a:ext cx="11457432" cy="658368"/>
          </a:xfrm>
          <a:prstGeom prst="roundRect">
            <a:avLst>
              <a:gd name="adj" fmla="val 12500"/>
            </a:avLst>
          </a:prstGeom>
          <a:solidFill>
            <a:srgbClr val="16294A"/>
          </a:solidFill>
          <a:ln w="9525">
            <a:solidFill>
              <a:srgbClr val="34507C"/>
            </a:solidFill>
            <a:prstDash val="solid"/>
          </a:ln>
          <a:effectLst>
            <a:outerShdw sx="100000" sy="100000" kx="0" ky="0" algn="bl" rotWithShape="0" blurRad="88900" dist="25400" dir="5400000">
              <a:srgbClr val="020814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0624" y="3246120"/>
            <a:ext cx="1783080" cy="530352"/>
          </a:xfrm>
          <a:prstGeom prst="roundRect">
            <a:avLst>
              <a:gd name="adj" fmla="val 12069"/>
            </a:avLst>
          </a:prstGeom>
          <a:solidFill>
            <a:srgbClr val="2A589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182112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Inbox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304288" y="318211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Campos</a:t>
            </a:r>
            <a:endParaRPr lang="en-US" sz="7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Espinoza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566160" y="31821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classifies &amp; routes automated emails (ZE, ZQ, YU)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~2 hrs/week saved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48272" y="3182112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Readiness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(Productivity)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558784" y="31821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OSSgenAI / IT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0241280" y="3182112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192256" y="3182112"/>
            <a:ext cx="603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65760" y="3927348"/>
            <a:ext cx="11457432" cy="658368"/>
          </a:xfrm>
          <a:prstGeom prst="roundRect">
            <a:avLst>
              <a:gd name="adj" fmla="val 12500"/>
            </a:avLst>
          </a:prstGeom>
          <a:solidFill>
            <a:srgbClr val="16294A"/>
          </a:solidFill>
          <a:ln w="9525">
            <a:solidFill>
              <a:srgbClr val="34507C"/>
            </a:solidFill>
            <a:prstDash val="solid"/>
          </a:ln>
          <a:effectLst>
            <a:outerShdw sx="100000" sy="100000" kx="0" ky="0" algn="bl" rotWithShape="0" blurRad="88900" dist="25400" dir="5400000">
              <a:srgbClr val="020814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20624" y="3991356"/>
            <a:ext cx="1783080" cy="530352"/>
          </a:xfrm>
          <a:prstGeom prst="roundRect">
            <a:avLst>
              <a:gd name="adj" fmla="val 12069"/>
            </a:avLst>
          </a:prstGeom>
          <a:solidFill>
            <a:srgbClr val="2A5896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927348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Orders Validation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304288" y="392734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Cristhofer Marin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566160" y="392734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+ ActOM validate the EDI transmission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Replaces manual PDF review · avoids error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48272" y="3927348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Readiness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Quality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558784" y="39273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DOOM / Azure  </a:t>
            </a:r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help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0241280" y="3927348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192256" y="3927348"/>
            <a:ext cx="603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65760" y="4672584"/>
            <a:ext cx="11457432" cy="658368"/>
          </a:xfrm>
          <a:prstGeom prst="roundRect">
            <a:avLst>
              <a:gd name="adj" fmla="val 12500"/>
            </a:avLst>
          </a:prstGeom>
          <a:solidFill>
            <a:srgbClr val="16294A"/>
          </a:solidFill>
          <a:ln w="9525">
            <a:solidFill>
              <a:srgbClr val="34507C"/>
            </a:solidFill>
            <a:prstDash val="solid"/>
          </a:ln>
          <a:effectLst>
            <a:outerShdw sx="100000" sy="100000" kx="0" ky="0" algn="bl" rotWithShape="0" blurRad="88900" dist="25400" dir="5400000">
              <a:srgbClr val="020814">
                <a:alpha val="4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20624" y="4736592"/>
            <a:ext cx="1783080" cy="530352"/>
          </a:xfrm>
          <a:prstGeom prst="roundRect">
            <a:avLst>
              <a:gd name="adj" fmla="val 12069"/>
            </a:avLst>
          </a:prstGeom>
          <a:solidFill>
            <a:srgbClr val="2A5896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4672584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DSD KNIME Lead-Time Exception (LTE)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304288" y="467258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Cristhofer Marin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566160" y="467258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Unified KNIME flags LTE orders &amp; auto-responds to RPA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100% accuracy · no wrong-RDD pushes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748272" y="4672584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Readiness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 Flow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558784" y="467258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COTC  </a:t>
            </a:r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help to copy KNIME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0241280" y="467258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1192256" y="4672584"/>
            <a:ext cx="603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65760" y="55275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progress </a:t>
            </a:r>
            <a:pPr algn="l" indent="0" marL="0">
              <a:buNone/>
            </a:pPr>
            <a:r>
              <a:rPr lang="en-US" sz="9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148840" y="5536692"/>
            <a:ext cx="1570573" cy="237744"/>
          </a:xfrm>
          <a:prstGeom prst="roundRect">
            <a:avLst>
              <a:gd name="adj" fmla="val 50000"/>
            </a:avLst>
          </a:prstGeom>
          <a:solidFill>
            <a:srgbClr val="1B3157"/>
          </a:solidFill>
          <a:ln w="9525">
            <a:solidFill>
              <a:srgbClr val="34507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40280" y="5618988"/>
            <a:ext cx="73152" cy="73152"/>
          </a:xfrm>
          <a:prstGeom prst="ellipse">
            <a:avLst/>
          </a:prstGeom>
          <a:solidFill>
            <a:srgbClr val="F3B65F"/>
          </a:solidFill>
          <a:ln/>
        </p:spPr>
      </p:sp>
      <p:sp>
        <p:nvSpPr>
          <p:cNvPr id="63" name="Text 61"/>
          <p:cNvSpPr/>
          <p:nvPr/>
        </p:nvSpPr>
        <p:spPr>
          <a:xfrm>
            <a:off x="2350008" y="5536692"/>
            <a:ext cx="135111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AWG Order Consolidation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829141" y="5536692"/>
            <a:ext cx="1962302" cy="237744"/>
          </a:xfrm>
          <a:prstGeom prst="roundRect">
            <a:avLst>
              <a:gd name="adj" fmla="val 50000"/>
            </a:avLst>
          </a:prstGeom>
          <a:solidFill>
            <a:srgbClr val="1B3157"/>
          </a:solidFill>
          <a:ln w="9525">
            <a:solidFill>
              <a:srgbClr val="34507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920581" y="5618988"/>
            <a:ext cx="73152" cy="73152"/>
          </a:xfrm>
          <a:prstGeom prst="ellipse">
            <a:avLst/>
          </a:prstGeom>
          <a:solidFill>
            <a:srgbClr val="F3B65F"/>
          </a:solidFill>
          <a:ln/>
        </p:spPr>
      </p:sp>
      <p:sp>
        <p:nvSpPr>
          <p:cNvPr id="66" name="Text 64"/>
          <p:cNvSpPr/>
          <p:nvPr/>
        </p:nvSpPr>
        <p:spPr>
          <a:xfrm>
            <a:off x="4030309" y="5536692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Cancellation Request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901172" y="5536692"/>
            <a:ext cx="1290767" cy="237744"/>
          </a:xfrm>
          <a:prstGeom prst="roundRect">
            <a:avLst>
              <a:gd name="adj" fmla="val 50000"/>
            </a:avLst>
          </a:prstGeom>
          <a:solidFill>
            <a:srgbClr val="1B3157"/>
          </a:solidFill>
          <a:ln w="9525">
            <a:solidFill>
              <a:srgbClr val="34507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992612" y="5618988"/>
            <a:ext cx="73152" cy="73152"/>
          </a:xfrm>
          <a:prstGeom prst="ellipse">
            <a:avLst/>
          </a:prstGeom>
          <a:solidFill>
            <a:srgbClr val="F3B65F"/>
          </a:solidFill>
          <a:ln/>
        </p:spPr>
      </p:sp>
      <p:sp>
        <p:nvSpPr>
          <p:cNvPr id="69" name="Text 67"/>
          <p:cNvSpPr/>
          <p:nvPr/>
        </p:nvSpPr>
        <p:spPr>
          <a:xfrm>
            <a:off x="6102340" y="5536692"/>
            <a:ext cx="10713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 Block Autoclean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65760" y="59115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E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</a:t>
            </a:r>
            <a:pPr algn="l" indent="0" marL="0">
              <a:buNone/>
            </a:pPr>
            <a:r>
              <a:rPr lang="en-US" sz="9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148840" y="5920740"/>
            <a:ext cx="1290767" cy="237744"/>
          </a:xfrm>
          <a:prstGeom prst="roundRect">
            <a:avLst>
              <a:gd name="adj" fmla="val 50000"/>
            </a:avLst>
          </a:prstGeom>
          <a:solidFill>
            <a:srgbClr val="1B3157"/>
          </a:solidFill>
          <a:ln w="9525">
            <a:solidFill>
              <a:srgbClr val="34507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40280" y="6003036"/>
            <a:ext cx="73152" cy="73152"/>
          </a:xfrm>
          <a:prstGeom prst="ellipse">
            <a:avLst/>
          </a:prstGeom>
          <a:solidFill>
            <a:srgbClr val="7CE7AE"/>
          </a:solidFill>
          <a:ln/>
        </p:spPr>
      </p:sp>
      <p:sp>
        <p:nvSpPr>
          <p:cNvPr id="73" name="Text 71"/>
          <p:cNvSpPr/>
          <p:nvPr/>
        </p:nvSpPr>
        <p:spPr>
          <a:xfrm>
            <a:off x="2350008" y="5920740"/>
            <a:ext cx="10713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11 Autoclean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549335" y="5920740"/>
            <a:ext cx="954999" cy="237744"/>
          </a:xfrm>
          <a:prstGeom prst="roundRect">
            <a:avLst>
              <a:gd name="adj" fmla="val 50000"/>
            </a:avLst>
          </a:prstGeom>
          <a:solidFill>
            <a:srgbClr val="1B3157"/>
          </a:solidFill>
          <a:ln w="9525">
            <a:solidFill>
              <a:srgbClr val="34507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40775" y="6003036"/>
            <a:ext cx="73152" cy="73152"/>
          </a:xfrm>
          <a:prstGeom prst="ellipse">
            <a:avLst/>
          </a:prstGeom>
          <a:solidFill>
            <a:srgbClr val="7CE7AE"/>
          </a:solidFill>
          <a:ln/>
        </p:spPr>
      </p:sp>
      <p:sp>
        <p:nvSpPr>
          <p:cNvPr id="76" name="Text 74"/>
          <p:cNvSpPr/>
          <p:nvPr/>
        </p:nvSpPr>
        <p:spPr>
          <a:xfrm>
            <a:off x="3750503" y="5920740"/>
            <a:ext cx="7355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Autopush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614062" y="5920740"/>
            <a:ext cx="1738457" cy="237744"/>
          </a:xfrm>
          <a:prstGeom prst="roundRect">
            <a:avLst>
              <a:gd name="adj" fmla="val 50000"/>
            </a:avLst>
          </a:prstGeom>
          <a:solidFill>
            <a:srgbClr val="1B3157"/>
          </a:solidFill>
          <a:ln w="9525">
            <a:solidFill>
              <a:srgbClr val="34507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05502" y="6003036"/>
            <a:ext cx="73152" cy="73152"/>
          </a:xfrm>
          <a:prstGeom prst="ellipse">
            <a:avLst/>
          </a:prstGeom>
          <a:solidFill>
            <a:srgbClr val="7CE7AE"/>
          </a:solidFill>
          <a:ln/>
        </p:spPr>
      </p:sp>
      <p:sp>
        <p:nvSpPr>
          <p:cNvPr id="79" name="Text 77"/>
          <p:cNvSpPr/>
          <p:nvPr/>
        </p:nvSpPr>
        <p:spPr>
          <a:xfrm>
            <a:off x="4815230" y="5920740"/>
            <a:ext cx="15190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VMI Appointment Automation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462248" y="5920740"/>
            <a:ext cx="1626535" cy="237744"/>
          </a:xfrm>
          <a:prstGeom prst="roundRect">
            <a:avLst>
              <a:gd name="adj" fmla="val 50000"/>
            </a:avLst>
          </a:prstGeom>
          <a:solidFill>
            <a:srgbClr val="1B3157"/>
          </a:solidFill>
          <a:ln w="9525">
            <a:solidFill>
              <a:srgbClr val="34507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553688" y="6003036"/>
            <a:ext cx="73152" cy="73152"/>
          </a:xfrm>
          <a:prstGeom prst="ellipse">
            <a:avLst/>
          </a:prstGeom>
          <a:solidFill>
            <a:srgbClr val="7CE7AE"/>
          </a:solidFill>
          <a:ln/>
        </p:spPr>
      </p:sp>
      <p:sp>
        <p:nvSpPr>
          <p:cNvPr id="82" name="Text 80"/>
          <p:cNvSpPr/>
          <p:nvPr/>
        </p:nvSpPr>
        <p:spPr>
          <a:xfrm>
            <a:off x="6663416" y="5920740"/>
            <a:ext cx="1407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AWG Ship-With Automation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365760" y="65471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 · C-OTC Order Management — San Jose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943600" y="6547104"/>
            <a:ext cx="5879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8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  </a:t>
            </a:r>
            <a:pPr algn="r" indent="0" marL="0">
              <a:buNone/>
            </a:pPr>
            <a:r>
              <a:rPr lang="en-US" sz="800" dirty="0">
                <a:solidFill>
                  <a:srgbClr val="6B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8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   </a:t>
            </a:r>
            <a:pPr algn="r" indent="0" marL="0">
              <a:buNone/>
            </a:pPr>
            <a:r>
              <a:rPr lang="en-US" sz="800" dirty="0">
                <a:solidFill>
                  <a:srgbClr val="7CE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8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   </a:t>
            </a:r>
            <a:pPr algn="r" indent="0" marL="0">
              <a:buNone/>
            </a:pPr>
            <a:r>
              <a:rPr lang="en-US" sz="800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</a:t>
            </a:r>
            <a:pPr algn="r" indent="0" marL="0">
              <a:buNone/>
            </a:pPr>
            <a:r>
              <a:rPr lang="en-US" sz="8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needed</a:t>
            </a:r>
            <a:endParaRPr lang="en-US" sz="800" dirty="0"/>
          </a:p>
        </p:txBody>
      </p:sp>
      <p:sp>
        <p:nvSpPr>
          <p:cNvPr id="900" name="Appendix Label"/>
          <p:cNvSpPr/>
          <p:nvPr/>
        </p:nvSpPr>
        <p:spPr>
          <a:xfrm>
            <a:off x="7955280" y="5806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2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FULL TABLE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90 days plan - Portafolio</dc:title>
  <dc:subject>PptxGenJS Presentation</dc:subject>
  <dc:creator>C-OTC Order Management</dc:creator>
  <cp:lastModifiedBy>C-OTC Order Management</cp:lastModifiedBy>
  <cp:revision>1</cp:revision>
  <dcterms:created xsi:type="dcterms:W3CDTF">2026-08-07T16:28:18Z</dcterms:created>
  <dcterms:modified xsi:type="dcterms:W3CDTF">2026-08-07T16:28:18Z</dcterms:modified>
</cp:coreProperties>
</file>