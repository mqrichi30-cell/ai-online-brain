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1945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plan · </a:t>
            </a:r>
            <a:pPr algn="l" indent="0" marL="0">
              <a:buNone/>
            </a:pPr>
            <a:r>
              <a:rPr lang="en-US" sz="2800" b="1" dirty="0">
                <a:solidFill>
                  <a:srgbClr val="39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360152" y="27432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1C4C86"/>
          </a:solidFill>
          <a:ln w="12700">
            <a:solidFill>
              <a:srgbClr val="3E72AE"/>
            </a:solidFill>
            <a:prstDash val="solid"/>
          </a:ln>
          <a:effectLst>
            <a:outerShdw sx="100000" sy="100000" kx="0" ky="0" algn="bl" rotWithShape="0" blurRad="88900" dist="25400" dir="5400000">
              <a:srgbClr val="020814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360152" y="2743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9C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IWS</a:t>
            </a:r>
            <a:pPr algn="l" indent="0" marL="0">
              <a:buNone/>
            </a:pPr>
            <a:r>
              <a:rPr lang="en-US" sz="1100" i="1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methodology implementation to drive improvement and drive value.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95360" y="74980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 PROGRESS </a:t>
            </a:r>
            <a:pPr algn="r" indent="0" marL="0">
              <a:buNone/>
            </a:pPr>
            <a:r>
              <a:rPr lang="en-US" sz="10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of 12 automations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1457432" cy="402336"/>
          </a:xfrm>
          <a:prstGeom prst="roundRect">
            <a:avLst>
              <a:gd name="adj" fmla="val 22727"/>
            </a:avLst>
          </a:prstGeom>
          <a:solidFill>
            <a:srgbClr val="1C3E72"/>
          </a:solidFill>
          <a:ln w="9525">
            <a:solidFill>
              <a:srgbClr val="34507C"/>
            </a:solidFill>
            <a:prstDash val="solid"/>
          </a:ln>
          <a:effectLst>
            <a:outerShdw sx="100000" sy="100000" kx="0" ky="0" algn="bl" rotWithShape="0" blurRad="88900" dist="25400" dir="5400000">
              <a:srgbClr val="020814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" y="11887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04288" y="11887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1887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48272" y="11887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OTSR Impacts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58784" y="11887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0" y="118872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92256" y="118872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691640"/>
            <a:ext cx="11457432" cy="658368"/>
          </a:xfrm>
          <a:prstGeom prst="roundRect">
            <a:avLst>
              <a:gd name="adj" fmla="val 12500"/>
            </a:avLst>
          </a:prstGeom>
          <a:solidFill>
            <a:srgbClr val="16294A"/>
          </a:solidFill>
          <a:ln w="9525">
            <a:solidFill>
              <a:srgbClr val="34507C"/>
            </a:solidFill>
            <a:prstDash val="solid"/>
          </a:ln>
          <a:effectLst>
            <a:outerShdw sx="100000" sy="100000" kx="0" ky="0" algn="bl" rotWithShape="0" blurRad="88900" dist="25400" dir="5400000">
              <a:srgbClr val="020814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0624" y="1755648"/>
            <a:ext cx="1783080" cy="530352"/>
          </a:xfrm>
          <a:prstGeom prst="roundRect">
            <a:avLst>
              <a:gd name="adj" fmla="val 12069"/>
            </a:avLst>
          </a:prstGeom>
          <a:solidFill>
            <a:srgbClr val="2A5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691640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Category Emails &amp; Display Auto-Release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04288" y="16916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 (Mariela)</a:t>
            </a:r>
            <a:endParaRPr lang="en-US" sz="7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Aguilar · B. Miller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566160" y="16916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Item-category tag auto-routes emails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Auto-releases displays when P&amp;G &lt; customer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48272" y="1691640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Readiness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 Flow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558784" y="16916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 (Item Cat.)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241280" y="1691640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pPr algn="ctr" indent="0" marL="0">
              <a:buNone/>
            </a:pPr>
            <a:endParaRPr lang="en-US" sz="8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7CE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✔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92256" y="1691640"/>
            <a:ext cx="603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AMJ 2026 (P1)</a:t>
            </a:r>
            <a:endParaRPr lang="en-US" sz="7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 (P2)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2436876"/>
            <a:ext cx="11457432" cy="658368"/>
          </a:xfrm>
          <a:prstGeom prst="roundRect">
            <a:avLst>
              <a:gd name="adj" fmla="val 12500"/>
            </a:avLst>
          </a:prstGeom>
          <a:solidFill>
            <a:srgbClr val="16294A"/>
          </a:solidFill>
          <a:ln w="9525">
            <a:solidFill>
              <a:srgbClr val="34507C"/>
            </a:solidFill>
            <a:prstDash val="solid"/>
          </a:ln>
          <a:effectLst>
            <a:outerShdw sx="100000" sy="100000" kx="0" ky="0" algn="bl" rotWithShape="0" blurRad="88900" dist="25400" dir="5400000">
              <a:srgbClr val="020814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0624" y="2500884"/>
            <a:ext cx="1783080" cy="530352"/>
          </a:xfrm>
          <a:prstGeom prst="roundRect">
            <a:avLst>
              <a:gd name="adj" fmla="val 12069"/>
            </a:avLst>
          </a:prstGeom>
          <a:solidFill>
            <a:srgbClr val="2A5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436876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Customer Material # Inclusion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304288" y="243687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Arroyo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566160" y="243687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RPA updates Customer Material # on existing SAP lines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Reduces returns risk &amp; SAP rework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48272" y="2436876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 Flow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on Time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558784" y="243687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/ Blue Prism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241280" y="2436876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192256" y="2436876"/>
            <a:ext cx="603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" y="3182112"/>
            <a:ext cx="11457432" cy="658368"/>
          </a:xfrm>
          <a:prstGeom prst="roundRect">
            <a:avLst>
              <a:gd name="adj" fmla="val 12500"/>
            </a:avLst>
          </a:prstGeom>
          <a:solidFill>
            <a:srgbClr val="16294A"/>
          </a:solidFill>
          <a:ln w="9525">
            <a:solidFill>
              <a:srgbClr val="34507C"/>
            </a:solidFill>
            <a:prstDash val="solid"/>
          </a:ln>
          <a:effectLst>
            <a:outerShdw sx="100000" sy="100000" kx="0" ky="0" algn="bl" rotWithShape="0" blurRad="88900" dist="25400" dir="5400000">
              <a:srgbClr val="020814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0624" y="3246120"/>
            <a:ext cx="1783080" cy="530352"/>
          </a:xfrm>
          <a:prstGeom prst="roundRect">
            <a:avLst>
              <a:gd name="adj" fmla="val 12069"/>
            </a:avLst>
          </a:prstGeom>
          <a:solidFill>
            <a:srgbClr val="2A589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182112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Inbox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304288" y="318211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Campos</a:t>
            </a:r>
            <a:endParaRPr lang="en-US" sz="7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Espinoza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566160" y="31821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classifies &amp; routes automated emails (ZE, ZQ, YU)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~2 hrs/week saved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48272" y="3182112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Readiness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(Productivity)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558784" y="31821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OSSgenAI / IT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0241280" y="3182112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192256" y="3182112"/>
            <a:ext cx="603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65760" y="3927348"/>
            <a:ext cx="11457432" cy="658368"/>
          </a:xfrm>
          <a:prstGeom prst="roundRect">
            <a:avLst>
              <a:gd name="adj" fmla="val 12500"/>
            </a:avLst>
          </a:prstGeom>
          <a:solidFill>
            <a:srgbClr val="16294A"/>
          </a:solidFill>
          <a:ln w="9525">
            <a:solidFill>
              <a:srgbClr val="34507C"/>
            </a:solidFill>
            <a:prstDash val="solid"/>
          </a:ln>
          <a:effectLst>
            <a:outerShdw sx="100000" sy="100000" kx="0" ky="0" algn="bl" rotWithShape="0" blurRad="88900" dist="25400" dir="5400000">
              <a:srgbClr val="020814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20624" y="3991356"/>
            <a:ext cx="1783080" cy="530352"/>
          </a:xfrm>
          <a:prstGeom prst="roundRect">
            <a:avLst>
              <a:gd name="adj" fmla="val 12069"/>
            </a:avLst>
          </a:prstGeom>
          <a:solidFill>
            <a:srgbClr val="2A5896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927348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Orders Validation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304288" y="392734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Cristhofer Marin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566160" y="392734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+ ActOM validate the EDI transmission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Replaces manual PDF review · avoids error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48272" y="3927348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Readiness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Quality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558784" y="39273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DOOM / Azure  </a:t>
            </a:r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help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0241280" y="3927348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192256" y="3927348"/>
            <a:ext cx="603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65760" y="4672584"/>
            <a:ext cx="11457432" cy="658368"/>
          </a:xfrm>
          <a:prstGeom prst="roundRect">
            <a:avLst>
              <a:gd name="adj" fmla="val 12500"/>
            </a:avLst>
          </a:prstGeom>
          <a:solidFill>
            <a:srgbClr val="16294A"/>
          </a:solidFill>
          <a:ln w="9525">
            <a:solidFill>
              <a:srgbClr val="34507C"/>
            </a:solidFill>
            <a:prstDash val="solid"/>
          </a:ln>
          <a:effectLst>
            <a:outerShdw sx="100000" sy="100000" kx="0" ky="0" algn="bl" rotWithShape="0" blurRad="88900" dist="25400" dir="5400000">
              <a:srgbClr val="020814">
                <a:alpha val="4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20624" y="4736592"/>
            <a:ext cx="1783080" cy="530352"/>
          </a:xfrm>
          <a:prstGeom prst="roundRect">
            <a:avLst>
              <a:gd name="adj" fmla="val 12069"/>
            </a:avLst>
          </a:prstGeom>
          <a:solidFill>
            <a:srgbClr val="2A5896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4672584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DSD KNIME Lead-Time Exception (LTE)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304288" y="467258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Cristhofer Marin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566160" y="467258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Unified KNIME flags LTE orders &amp; auto-responds to RPA</a:t>
            </a:r>
            <a:endParaRPr lang="en-US" sz="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100% accuracy · no wrong-RDD pushes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748272" y="4672584"/>
            <a:ext cx="1755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Readiness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 Flow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558784" y="467258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COTC  </a:t>
            </a:r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help to copy KNIME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0241280" y="467258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1192256" y="4672584"/>
            <a:ext cx="603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b="1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65760" y="55275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progress </a:t>
            </a:r>
            <a:pPr algn="l" indent="0" marL="0">
              <a:buNone/>
            </a:pPr>
            <a:r>
              <a:rPr lang="en-US" sz="9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148840" y="5536692"/>
            <a:ext cx="1570573" cy="237744"/>
          </a:xfrm>
          <a:prstGeom prst="roundRect">
            <a:avLst>
              <a:gd name="adj" fmla="val 50000"/>
            </a:avLst>
          </a:prstGeom>
          <a:solidFill>
            <a:srgbClr val="1B3157"/>
          </a:solidFill>
          <a:ln w="9525">
            <a:solidFill>
              <a:srgbClr val="34507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40280" y="5618988"/>
            <a:ext cx="73152" cy="73152"/>
          </a:xfrm>
          <a:prstGeom prst="ellipse">
            <a:avLst/>
          </a:prstGeom>
          <a:solidFill>
            <a:srgbClr val="F3B65F"/>
          </a:solidFill>
          <a:ln/>
        </p:spPr>
      </p:sp>
      <p:sp>
        <p:nvSpPr>
          <p:cNvPr id="63" name="Text 61"/>
          <p:cNvSpPr/>
          <p:nvPr/>
        </p:nvSpPr>
        <p:spPr>
          <a:xfrm>
            <a:off x="2350008" y="5536692"/>
            <a:ext cx="135111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AWG Order Consolidation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829141" y="5536692"/>
            <a:ext cx="1962302" cy="237744"/>
          </a:xfrm>
          <a:prstGeom prst="roundRect">
            <a:avLst>
              <a:gd name="adj" fmla="val 50000"/>
            </a:avLst>
          </a:prstGeom>
          <a:solidFill>
            <a:srgbClr val="1B3157"/>
          </a:solidFill>
          <a:ln w="9525">
            <a:solidFill>
              <a:srgbClr val="34507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920581" y="5618988"/>
            <a:ext cx="73152" cy="73152"/>
          </a:xfrm>
          <a:prstGeom prst="ellipse">
            <a:avLst/>
          </a:prstGeom>
          <a:solidFill>
            <a:srgbClr val="F3B65F"/>
          </a:solidFill>
          <a:ln/>
        </p:spPr>
      </p:sp>
      <p:sp>
        <p:nvSpPr>
          <p:cNvPr id="66" name="Text 64"/>
          <p:cNvSpPr/>
          <p:nvPr/>
        </p:nvSpPr>
        <p:spPr>
          <a:xfrm>
            <a:off x="4030309" y="5536692"/>
            <a:ext cx="1742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Cancellation Request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901172" y="5536692"/>
            <a:ext cx="1290767" cy="237744"/>
          </a:xfrm>
          <a:prstGeom prst="roundRect">
            <a:avLst>
              <a:gd name="adj" fmla="val 50000"/>
            </a:avLst>
          </a:prstGeom>
          <a:solidFill>
            <a:srgbClr val="1B3157"/>
          </a:solidFill>
          <a:ln w="9525">
            <a:solidFill>
              <a:srgbClr val="34507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992612" y="5618988"/>
            <a:ext cx="73152" cy="73152"/>
          </a:xfrm>
          <a:prstGeom prst="ellipse">
            <a:avLst/>
          </a:prstGeom>
          <a:solidFill>
            <a:srgbClr val="F3B65F"/>
          </a:solidFill>
          <a:ln/>
        </p:spPr>
      </p:sp>
      <p:sp>
        <p:nvSpPr>
          <p:cNvPr id="69" name="Text 67"/>
          <p:cNvSpPr/>
          <p:nvPr/>
        </p:nvSpPr>
        <p:spPr>
          <a:xfrm>
            <a:off x="6102340" y="5536692"/>
            <a:ext cx="10713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 Block Autoclean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65760" y="59115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E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</a:t>
            </a:r>
            <a:pPr algn="l" indent="0" marL="0">
              <a:buNone/>
            </a:pPr>
            <a:r>
              <a:rPr lang="en-US" sz="9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148840" y="5920740"/>
            <a:ext cx="1290767" cy="237744"/>
          </a:xfrm>
          <a:prstGeom prst="roundRect">
            <a:avLst>
              <a:gd name="adj" fmla="val 50000"/>
            </a:avLst>
          </a:prstGeom>
          <a:solidFill>
            <a:srgbClr val="1B3157"/>
          </a:solidFill>
          <a:ln w="9525">
            <a:solidFill>
              <a:srgbClr val="34507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40280" y="6003036"/>
            <a:ext cx="73152" cy="73152"/>
          </a:xfrm>
          <a:prstGeom prst="ellipse">
            <a:avLst/>
          </a:prstGeom>
          <a:solidFill>
            <a:srgbClr val="7CE7AE"/>
          </a:solidFill>
          <a:ln/>
        </p:spPr>
      </p:sp>
      <p:sp>
        <p:nvSpPr>
          <p:cNvPr id="73" name="Text 71"/>
          <p:cNvSpPr/>
          <p:nvPr/>
        </p:nvSpPr>
        <p:spPr>
          <a:xfrm>
            <a:off x="2350008" y="5920740"/>
            <a:ext cx="10713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11 Autoclean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549335" y="5920740"/>
            <a:ext cx="954999" cy="237744"/>
          </a:xfrm>
          <a:prstGeom prst="roundRect">
            <a:avLst>
              <a:gd name="adj" fmla="val 50000"/>
            </a:avLst>
          </a:prstGeom>
          <a:solidFill>
            <a:srgbClr val="1B3157"/>
          </a:solidFill>
          <a:ln w="9525">
            <a:solidFill>
              <a:srgbClr val="34507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640775" y="6003036"/>
            <a:ext cx="73152" cy="73152"/>
          </a:xfrm>
          <a:prstGeom prst="ellipse">
            <a:avLst/>
          </a:prstGeom>
          <a:solidFill>
            <a:srgbClr val="7CE7AE"/>
          </a:solidFill>
          <a:ln/>
        </p:spPr>
      </p:sp>
      <p:sp>
        <p:nvSpPr>
          <p:cNvPr id="76" name="Text 74"/>
          <p:cNvSpPr/>
          <p:nvPr/>
        </p:nvSpPr>
        <p:spPr>
          <a:xfrm>
            <a:off x="3750503" y="5920740"/>
            <a:ext cx="7355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Autopush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614062" y="5920740"/>
            <a:ext cx="1738457" cy="237744"/>
          </a:xfrm>
          <a:prstGeom prst="roundRect">
            <a:avLst>
              <a:gd name="adj" fmla="val 50000"/>
            </a:avLst>
          </a:prstGeom>
          <a:solidFill>
            <a:srgbClr val="1B3157"/>
          </a:solidFill>
          <a:ln w="9525">
            <a:solidFill>
              <a:srgbClr val="34507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05502" y="6003036"/>
            <a:ext cx="73152" cy="73152"/>
          </a:xfrm>
          <a:prstGeom prst="ellipse">
            <a:avLst/>
          </a:prstGeom>
          <a:solidFill>
            <a:srgbClr val="7CE7AE"/>
          </a:solidFill>
          <a:ln/>
        </p:spPr>
      </p:sp>
      <p:sp>
        <p:nvSpPr>
          <p:cNvPr id="79" name="Text 77"/>
          <p:cNvSpPr/>
          <p:nvPr/>
        </p:nvSpPr>
        <p:spPr>
          <a:xfrm>
            <a:off x="4815230" y="5920740"/>
            <a:ext cx="15190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VMI Appointment Automation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462248" y="5920740"/>
            <a:ext cx="1626535" cy="237744"/>
          </a:xfrm>
          <a:prstGeom prst="roundRect">
            <a:avLst>
              <a:gd name="adj" fmla="val 50000"/>
            </a:avLst>
          </a:prstGeom>
          <a:solidFill>
            <a:srgbClr val="1B3157"/>
          </a:solidFill>
          <a:ln w="9525">
            <a:solidFill>
              <a:srgbClr val="34507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553688" y="6003036"/>
            <a:ext cx="73152" cy="73152"/>
          </a:xfrm>
          <a:prstGeom prst="ellipse">
            <a:avLst/>
          </a:prstGeom>
          <a:solidFill>
            <a:srgbClr val="7CE7AE"/>
          </a:solidFill>
          <a:ln/>
        </p:spPr>
      </p:sp>
      <p:sp>
        <p:nvSpPr>
          <p:cNvPr id="82" name="Text 80"/>
          <p:cNvSpPr/>
          <p:nvPr/>
        </p:nvSpPr>
        <p:spPr>
          <a:xfrm>
            <a:off x="6663416" y="5920740"/>
            <a:ext cx="1407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AWG Ship-With Automation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365760" y="654710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P&amp;G · C-OTC Order Management — San Jose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943600" y="6547104"/>
            <a:ext cx="5879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3B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8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  </a:t>
            </a:r>
            <a:pPr algn="r" indent="0" marL="0">
              <a:buNone/>
            </a:pPr>
            <a:r>
              <a:rPr lang="en-US" sz="800" dirty="0">
                <a:solidFill>
                  <a:srgbClr val="6B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8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   </a:t>
            </a:r>
            <a:pPr algn="r" indent="0" marL="0">
              <a:buNone/>
            </a:pPr>
            <a:r>
              <a:rPr lang="en-US" sz="800" dirty="0">
                <a:solidFill>
                  <a:srgbClr val="7CE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8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   </a:t>
            </a:r>
            <a:pPr algn="r" indent="0" marL="0">
              <a:buNone/>
            </a:pPr>
            <a:r>
              <a:rPr lang="en-US" sz="800" dirty="0">
                <a:solidFill>
                  <a:srgbClr val="FF8C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</a:t>
            </a:r>
            <a:pPr algn="r" indent="0" marL="0">
              <a:buNone/>
            </a:pPr>
            <a:r>
              <a:rPr lang="en-US" sz="800" dirty="0">
                <a:solidFill>
                  <a:srgbClr val="9FB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needed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2026-07-15T20:00:17Z</dcterms:created>
  <dcterms:modified xsi:type="dcterms:W3CDTF">2026-07-15T20:00:17Z</dcterms:modified>
</cp:coreProperties>
</file>